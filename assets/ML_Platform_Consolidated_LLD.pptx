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F00CA"/>
                </a:solidFill>
                <a:latin typeface="Calibri"/>
              </a:rPr>
              <a:t>Low-Level Design — ML Platform (DEV · PROD · CI/CD)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" y="694944"/>
            <a:ext cx="11850624" cy="713232"/>
          </a:xfrm>
          <a:prstGeom prst="rect">
            <a:avLst/>
          </a:prstGeom>
          <a:solidFill>
            <a:srgbClr val="F3F4F6"/>
          </a:solidFill>
          <a:ln w="1143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713232"/>
            <a:ext cx="7315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1C1C"/>
                </a:solidFill>
                <a:latin typeface="Calibri"/>
              </a:rPr>
              <a:t>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859536"/>
            <a:ext cx="8686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5780" y="886968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" y="8869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1133856"/>
            <a:ext cx="832103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Repo</a:t>
            </a:r>
          </a:p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Templates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859536"/>
            <a:ext cx="804672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886968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8869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133856"/>
            <a:ext cx="76809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Training</a:t>
            </a:r>
          </a:p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8" y="859536"/>
            <a:ext cx="8686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6292" y="886968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6292" y="8869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1133856"/>
            <a:ext cx="832103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Deployment</a:t>
            </a:r>
          </a:p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Repo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786384"/>
            <a:ext cx="3520440" cy="530352"/>
          </a:xfrm>
          <a:prstGeom prst="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804672"/>
            <a:ext cx="13716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D4ED8"/>
                </a:solidFill>
                <a:latin typeface="Calibri"/>
              </a:rPr>
              <a:t>GitHub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950976"/>
            <a:ext cx="1600200" cy="347472"/>
          </a:xfrm>
          <a:prstGeom prst="rect">
            <a:avLst/>
          </a:prstGeom>
          <a:solidFill>
            <a:srgbClr val="DBEAFE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63340" y="978408"/>
            <a:ext cx="182880" cy="182880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3340" y="978408"/>
            <a:ext cx="182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1152144"/>
            <a:ext cx="1563624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Training</a:t>
            </a:r>
          </a:p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950976"/>
            <a:ext cx="1600200" cy="347472"/>
          </a:xfrm>
          <a:prstGeom prst="rect">
            <a:avLst/>
          </a:prstGeom>
          <a:solidFill>
            <a:srgbClr val="D1FAE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54980" y="978408"/>
            <a:ext cx="182880" cy="182880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4980" y="978408"/>
            <a:ext cx="182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7" y="1152144"/>
            <a:ext cx="1563624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Deployment</a:t>
            </a:r>
          </a:p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Pipeline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804672"/>
            <a:ext cx="201168" cy="201168"/>
          </a:xfrm>
          <a:prstGeom prst="ellipse">
            <a:avLst/>
          </a:prstGeom>
          <a:solidFill>
            <a:srgbClr val="EDE9FE"/>
          </a:solidFill>
          <a:ln w="762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024128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Data</a:t>
            </a:r>
          </a:p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Solution</a:t>
            </a:r>
          </a:p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Lead</a:t>
            </a:r>
          </a:p>
        </p:txBody>
      </p:sp>
      <p:sp>
        <p:nvSpPr>
          <p:cNvPr id="29" name="Oval 28"/>
          <p:cNvSpPr/>
          <p:nvPr/>
        </p:nvSpPr>
        <p:spPr>
          <a:xfrm>
            <a:off x="7360920" y="804672"/>
            <a:ext cx="201168" cy="201168"/>
          </a:xfrm>
          <a:prstGeom prst="ellipse">
            <a:avLst/>
          </a:prstGeom>
          <a:solidFill>
            <a:srgbClr val="EDE9FE"/>
          </a:solidFill>
          <a:ln w="762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024128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Senior DS</a:t>
            </a:r>
          </a:p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Approve</a:t>
            </a:r>
          </a:p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PROD Train</a:t>
            </a:r>
          </a:p>
        </p:txBody>
      </p:sp>
      <p:sp>
        <p:nvSpPr>
          <p:cNvPr id="31" name="Oval 30"/>
          <p:cNvSpPr/>
          <p:nvPr/>
        </p:nvSpPr>
        <p:spPr>
          <a:xfrm>
            <a:off x="8001000" y="804672"/>
            <a:ext cx="201168" cy="201168"/>
          </a:xfrm>
          <a:prstGeom prst="ellipse">
            <a:avLst/>
          </a:prstGeom>
          <a:solidFill>
            <a:srgbClr val="EDE9FE"/>
          </a:solidFill>
          <a:ln w="762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024128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Platform</a:t>
            </a:r>
          </a:p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Ops Lead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34640" y="1097280"/>
            <a:ext cx="32004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907792" y="955547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2" y="955547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54880" y="1097280"/>
            <a:ext cx="9144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713732" y="955547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3732" y="955547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46520" y="1097280"/>
            <a:ext cx="27432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96812" y="955547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6812" y="955547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86600" y="1097280"/>
            <a:ext cx="27432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136892" y="955547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6892" y="955547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Oval 44"/>
          <p:cNvSpPr/>
          <p:nvPr/>
        </p:nvSpPr>
        <p:spPr>
          <a:xfrm>
            <a:off x="201168" y="1572768"/>
            <a:ext cx="201168" cy="201168"/>
          </a:xfrm>
          <a:prstGeom prst="ellipse">
            <a:avLst/>
          </a:prstGeom>
          <a:solidFill>
            <a:srgbClr val="EDE9FE"/>
          </a:solidFill>
          <a:ln w="762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5448" y="1792224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Data</a:t>
            </a:r>
          </a:p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Scientist</a:t>
            </a:r>
          </a:p>
        </p:txBody>
      </p:sp>
      <p:sp>
        <p:nvSpPr>
          <p:cNvPr id="47" name="Oval 46"/>
          <p:cNvSpPr/>
          <p:nvPr/>
        </p:nvSpPr>
        <p:spPr>
          <a:xfrm>
            <a:off x="201168" y="2148840"/>
            <a:ext cx="201168" cy="201168"/>
          </a:xfrm>
          <a:prstGeom prst="ellipse">
            <a:avLst/>
          </a:prstGeom>
          <a:solidFill>
            <a:srgbClr val="EDE9FE"/>
          </a:solidFill>
          <a:ln w="762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448" y="2368296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DS</a:t>
            </a:r>
          </a:p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Lead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" y="1444752"/>
            <a:ext cx="5532120" cy="370332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5240">
            <a:solidFill>
              <a:srgbClr val="1D4E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3" y="148132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Calibri"/>
              </a:rPr>
              <a:t>DEV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1645920"/>
            <a:ext cx="960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0684" y="16733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" y="16733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1920240"/>
            <a:ext cx="92354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SageMaker</a:t>
            </a:r>
          </a:p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Projects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2221992"/>
            <a:ext cx="1051560" cy="1234440"/>
          </a:xfrm>
          <a:prstGeom prst="rect">
            <a:avLst/>
          </a:prstGeom>
          <a:solidFill>
            <a:srgbClr val="CCFBF1"/>
          </a:solidFill>
          <a:ln w="889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" y="2249424"/>
            <a:ext cx="9601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1C1C1C"/>
                </a:solidFill>
                <a:latin typeface="Calibri"/>
              </a:rPr>
              <a:t>MLflow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" y="2395728"/>
            <a:ext cx="9601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7259" y="2423160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7259" y="242316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" y="2670048"/>
            <a:ext cx="92354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Tracking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Server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" y="2889504"/>
            <a:ext cx="960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7259" y="2916936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59" y="291693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" y="3163824"/>
            <a:ext cx="92354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Model Registry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/ Monitoring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00784" y="2221992"/>
            <a:ext cx="406908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37360" y="2231136"/>
            <a:ext cx="399592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1C1C1C"/>
                </a:solidFill>
                <a:latin typeface="Calibri"/>
              </a:rPr>
              <a:t>SageMaker Pipeline — Export / Start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46504" y="2350008"/>
            <a:ext cx="751636" cy="512063"/>
          </a:xfrm>
          <a:prstGeom prst="rect">
            <a:avLst/>
          </a:prstGeom>
          <a:solidFill>
            <a:srgbClr val="CCFBF1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64792" y="2350008"/>
            <a:ext cx="71506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Preprocess</a:t>
            </a:r>
          </a:p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prepare.py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53004" y="2350008"/>
            <a:ext cx="751636" cy="512063"/>
          </a:xfrm>
          <a:prstGeom prst="rect">
            <a:avLst/>
          </a:prstGeom>
          <a:solidFill>
            <a:srgbClr val="CCFBF1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1292" y="2350008"/>
            <a:ext cx="71506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Train</a:t>
            </a:r>
          </a:p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train.py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505" y="2350008"/>
            <a:ext cx="751636" cy="512063"/>
          </a:xfrm>
          <a:prstGeom prst="rect">
            <a:avLst/>
          </a:prstGeom>
          <a:solidFill>
            <a:srgbClr val="CCFBF1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77793" y="2350008"/>
            <a:ext cx="71506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Eval</a:t>
            </a:r>
          </a:p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evaluate.py</a:t>
            </a:r>
          </a:p>
        </p:txBody>
      </p:sp>
      <p:sp>
        <p:nvSpPr>
          <p:cNvPr id="73" name="Diamond 72"/>
          <p:cNvSpPr/>
          <p:nvPr/>
        </p:nvSpPr>
        <p:spPr>
          <a:xfrm>
            <a:off x="4166006" y="2386584"/>
            <a:ext cx="751636" cy="438911"/>
          </a:xfrm>
          <a:prstGeom prst="diamond">
            <a:avLst/>
          </a:prstGeom>
          <a:solidFill>
            <a:srgbClr val="FFEDD5"/>
          </a:solidFill>
          <a:ln w="63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972507" y="2350008"/>
            <a:ext cx="751636" cy="512063"/>
          </a:xfrm>
          <a:prstGeom prst="rect">
            <a:avLst/>
          </a:prstGeom>
          <a:solidFill>
            <a:srgbClr val="DBEAFE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90795" y="2350008"/>
            <a:ext cx="71506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Register</a:t>
            </a:r>
          </a:p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Model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511856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2438704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38704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318357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3245205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45205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124858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4051706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51706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931359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4858207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58207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00784" y="2953512"/>
            <a:ext cx="1051560" cy="438912"/>
          </a:xfrm>
          <a:prstGeom prst="rect">
            <a:avLst/>
          </a:prstGeom>
          <a:solidFill>
            <a:srgbClr val="FEF3C7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098548" y="2980944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98548" y="298094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SF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19072" y="3227832"/>
            <a:ext cx="1014983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Step Functions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Trigger Pipeline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3474720"/>
            <a:ext cx="960120" cy="457200"/>
          </a:xfrm>
          <a:prstGeom prst="rect">
            <a:avLst/>
          </a:prstGeom>
          <a:solidFill>
            <a:srgbClr val="FFEDD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0684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0684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SecM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3749039"/>
            <a:ext cx="923544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Secrets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Manager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81912" y="3474720"/>
            <a:ext cx="960120" cy="457200"/>
          </a:xfrm>
          <a:prstGeom prst="rect">
            <a:avLst/>
          </a:prstGeom>
          <a:solidFill>
            <a:srgbClr val="D1FAE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933956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33956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00200" y="3749039"/>
            <a:ext cx="923544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Git Artifacts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Bucket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15184" y="3474720"/>
            <a:ext cx="868680" cy="457200"/>
          </a:xfrm>
          <a:prstGeom prst="rect">
            <a:avLst/>
          </a:prstGeom>
          <a:solidFill>
            <a:srgbClr val="FCE7F3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921508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21508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ECR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33472" y="3749039"/>
            <a:ext cx="832103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Container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Registry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575304" y="3474720"/>
            <a:ext cx="1051560" cy="457200"/>
          </a:xfrm>
          <a:prstGeom prst="rect">
            <a:avLst/>
          </a:prstGeom>
          <a:solidFill>
            <a:srgbClr val="D1FAE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973068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73068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93592" y="3749039"/>
            <a:ext cx="1014983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Model Artifact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Bucket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18304" y="3474720"/>
            <a:ext cx="1051560" cy="457200"/>
          </a:xfrm>
          <a:prstGeom prst="rect">
            <a:avLst/>
          </a:prstGeom>
          <a:solidFill>
            <a:srgbClr val="FFEDD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116068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16068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IAM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36592" y="3749039"/>
            <a:ext cx="1014983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IAM Roles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8640" y="4023360"/>
            <a:ext cx="1234440" cy="438912"/>
          </a:xfrm>
          <a:prstGeom prst="rect">
            <a:avLst/>
          </a:prstGeom>
          <a:solidFill>
            <a:srgbClr val="CCFBF1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37844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37844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6928" y="4297680"/>
            <a:ext cx="119786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Trigger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Pipeline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83664" y="4023360"/>
            <a:ext cx="1417320" cy="438912"/>
          </a:xfrm>
          <a:prstGeom prst="rect">
            <a:avLst/>
          </a:prstGeom>
          <a:solidFill>
            <a:srgbClr val="CCFBF1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464308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64308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901952" y="4297680"/>
            <a:ext cx="138074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SageMaker Pipeline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Endpoint Config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10712" y="4023360"/>
            <a:ext cx="1143000" cy="438912"/>
          </a:xfrm>
          <a:prstGeom prst="rect">
            <a:avLst/>
          </a:prstGeom>
          <a:solidFill>
            <a:srgbClr val="CCFBF1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854196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854196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29000" y="4297680"/>
            <a:ext cx="110642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SageMaker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Endpoint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26864" y="4023360"/>
            <a:ext cx="1143000" cy="438912"/>
          </a:xfrm>
          <a:prstGeom prst="rect">
            <a:avLst/>
          </a:prstGeom>
          <a:solidFill>
            <a:srgbClr val="E5E7EB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070348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70348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CW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45152" y="4297680"/>
            <a:ext cx="110642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CloudWatch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Dashboard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783080" y="4242816"/>
            <a:ext cx="100584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1746504" y="4101084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746504" y="4101084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3300984" y="4242816"/>
            <a:ext cx="109728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3268979" y="4101084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268979" y="4101084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4553712" y="4242816"/>
            <a:ext cx="7315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4503420" y="4101084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503420" y="4101084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37" name="Oval 136"/>
          <p:cNvSpPr/>
          <p:nvPr/>
        </p:nvSpPr>
        <p:spPr>
          <a:xfrm>
            <a:off x="6016752" y="2606040"/>
            <a:ext cx="201168" cy="201168"/>
          </a:xfrm>
          <a:prstGeom prst="ellipse">
            <a:avLst/>
          </a:prstGeom>
          <a:solidFill>
            <a:srgbClr val="EDE9FE"/>
          </a:solidFill>
          <a:ln w="762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971032" y="2825496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1C1C1C"/>
                </a:solidFill>
                <a:latin typeface="Calibri"/>
              </a:rPr>
              <a:t>SRE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199632" y="1444752"/>
            <a:ext cx="5532120" cy="370332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5240">
            <a:solidFill>
              <a:srgbClr val="C2410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72784" y="148132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410C"/>
                </a:solidFill>
                <a:latin typeface="Calibri"/>
              </a:rPr>
              <a:t>PROD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09360" y="1645920"/>
            <a:ext cx="960120" cy="438912"/>
          </a:xfrm>
          <a:prstGeom prst="rect">
            <a:avLst/>
          </a:prstGeom>
          <a:solidFill>
            <a:srgbClr val="FEF3C7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661404" y="16733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661404" y="16733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EB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27648" y="1920240"/>
            <a:ext cx="92354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Amazon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EventBridge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42632" y="2221992"/>
            <a:ext cx="4160520" cy="658368"/>
          </a:xfrm>
          <a:prstGeom prst="rect">
            <a:avLst/>
          </a:prstGeom>
          <a:solidFill>
            <a:srgbClr val="FFFFFF"/>
          </a:solidFill>
          <a:ln w="825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79208" y="2231136"/>
            <a:ext cx="408736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1C1C1C"/>
                </a:solidFill>
                <a:latin typeface="Calibri"/>
              </a:rPr>
              <a:t>SageMaker Pipeline — Import / Start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388352" y="2350008"/>
            <a:ext cx="769924" cy="512063"/>
          </a:xfrm>
          <a:prstGeom prst="rect">
            <a:avLst/>
          </a:prstGeom>
          <a:solidFill>
            <a:srgbClr val="CCFBF1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406640" y="2350008"/>
            <a:ext cx="73334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Preprocess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213140" y="2350008"/>
            <a:ext cx="769924" cy="512063"/>
          </a:xfrm>
          <a:prstGeom prst="rect">
            <a:avLst/>
          </a:prstGeom>
          <a:solidFill>
            <a:srgbClr val="CCFBF1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231428" y="2350008"/>
            <a:ext cx="73334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Train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037929" y="2350008"/>
            <a:ext cx="769924" cy="512063"/>
          </a:xfrm>
          <a:prstGeom prst="rect">
            <a:avLst/>
          </a:prstGeom>
          <a:solidFill>
            <a:srgbClr val="CCFBF1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56217" y="2350008"/>
            <a:ext cx="73334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Eval</a:t>
            </a:r>
          </a:p>
        </p:txBody>
      </p:sp>
      <p:sp>
        <p:nvSpPr>
          <p:cNvPr id="153" name="Diamond 152"/>
          <p:cNvSpPr/>
          <p:nvPr/>
        </p:nvSpPr>
        <p:spPr>
          <a:xfrm>
            <a:off x="9862718" y="2386584"/>
            <a:ext cx="769924" cy="438911"/>
          </a:xfrm>
          <a:prstGeom prst="diamond">
            <a:avLst/>
          </a:prstGeom>
          <a:solidFill>
            <a:srgbClr val="FFEDD5"/>
          </a:solidFill>
          <a:ln w="63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687507" y="2350008"/>
            <a:ext cx="769924" cy="512063"/>
          </a:xfrm>
          <a:prstGeom prst="rect">
            <a:avLst/>
          </a:prstGeom>
          <a:solidFill>
            <a:srgbClr val="DBEAFE"/>
          </a:solidFill>
          <a:ln w="635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705795" y="2350008"/>
            <a:ext cx="73334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Register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8171992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8098840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98840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8996781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8923629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923629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9821570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9748418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748418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10646359" y="2606040"/>
            <a:ext cx="2743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10573207" y="246430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573207" y="246430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309360" y="2953512"/>
            <a:ext cx="960120" cy="868680"/>
          </a:xfrm>
          <a:prstGeom prst="rect">
            <a:avLst/>
          </a:prstGeom>
          <a:solidFill>
            <a:srgbClr val="CCFBF1"/>
          </a:solidFill>
          <a:ln w="889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45936" y="2980944"/>
            <a:ext cx="8686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1">
                <a:solidFill>
                  <a:srgbClr val="1C1C1C"/>
                </a:solidFill>
                <a:latin typeface="Calibri"/>
              </a:rPr>
              <a:t>MLflow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45936" y="3108960"/>
            <a:ext cx="868680" cy="640080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652260" y="31363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652260" y="31363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364224" y="3383280"/>
            <a:ext cx="832103" cy="338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Model Registry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(Prod)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309360" y="3474720"/>
            <a:ext cx="868680" cy="457200"/>
          </a:xfrm>
          <a:prstGeom prst="rect">
            <a:avLst/>
          </a:prstGeom>
          <a:solidFill>
            <a:srgbClr val="D1FAE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615684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615684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327648" y="3749039"/>
            <a:ext cx="832103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Prod Data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Bucket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278624" y="3474720"/>
            <a:ext cx="868680" cy="457200"/>
          </a:xfrm>
          <a:prstGeom prst="rect">
            <a:avLst/>
          </a:prstGeom>
          <a:solidFill>
            <a:srgbClr val="D1FAE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584948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584948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296912" y="3749039"/>
            <a:ext cx="832103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Artifacts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Bucket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247888" y="3474720"/>
            <a:ext cx="777240" cy="457200"/>
          </a:xfrm>
          <a:prstGeom prst="rect">
            <a:avLst/>
          </a:prstGeom>
          <a:solidFill>
            <a:srgbClr val="FCE7F3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8492" y="350215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508492" y="35021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ECR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266175" y="3749039"/>
            <a:ext cx="740664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ECR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309360" y="4023360"/>
            <a:ext cx="77724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569964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569964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APIGW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327648" y="4297680"/>
            <a:ext cx="74066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API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Gateway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159752" y="4023360"/>
            <a:ext cx="1234440" cy="438912"/>
          </a:xfrm>
          <a:prstGeom prst="rect">
            <a:avLst/>
          </a:prstGeom>
          <a:solidFill>
            <a:srgbClr val="CCFBF1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648956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648956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SM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178040" y="4297680"/>
            <a:ext cx="119786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SageMaker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Endpoint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485632" y="4023360"/>
            <a:ext cx="1051560" cy="438912"/>
          </a:xfrm>
          <a:prstGeom prst="rect">
            <a:avLst/>
          </a:prstGeom>
          <a:solidFill>
            <a:srgbClr val="E5E7EB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883396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883396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Mon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503920" y="4297680"/>
            <a:ext cx="1014983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Model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Monitor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628632" y="4023360"/>
            <a:ext cx="960120" cy="438912"/>
          </a:xfrm>
          <a:prstGeom prst="rect">
            <a:avLst/>
          </a:prstGeom>
          <a:solidFill>
            <a:srgbClr val="E5E7EB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980676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980676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CW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646920" y="4297680"/>
            <a:ext cx="92354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CloudWatch</a:t>
            </a:r>
          </a:p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Dashboard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0680192" y="4023360"/>
            <a:ext cx="960120" cy="438912"/>
          </a:xfrm>
          <a:prstGeom prst="rect">
            <a:avLst/>
          </a:prstGeom>
          <a:solidFill>
            <a:srgbClr val="EDE9FE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1032236" y="4050792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032236" y="40507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698480" y="4297680"/>
            <a:ext cx="923544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1C1C1C"/>
                </a:solidFill>
                <a:latin typeface="Calibri"/>
              </a:rPr>
              <a:t>Application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7086600" y="4242816"/>
            <a:ext cx="73152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Oval 206"/>
          <p:cNvSpPr/>
          <p:nvPr/>
        </p:nvSpPr>
        <p:spPr>
          <a:xfrm>
            <a:off x="7036308" y="4101084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036308" y="4101084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8394192" y="4242816"/>
            <a:ext cx="9144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/>
          <p:cNvSpPr/>
          <p:nvPr/>
        </p:nvSpPr>
        <p:spPr>
          <a:xfrm>
            <a:off x="8353044" y="4101084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353044" y="4101084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9537192" y="4242816"/>
            <a:ext cx="9144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Oval 212"/>
          <p:cNvSpPr/>
          <p:nvPr/>
        </p:nvSpPr>
        <p:spPr>
          <a:xfrm>
            <a:off x="9496044" y="4101084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496044" y="4101084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5925312" y="2542032"/>
            <a:ext cx="320040" cy="0"/>
          </a:xfrm>
          <a:prstGeom prst="line">
            <a:avLst/>
          </a:prstGeom>
          <a:ln w="13970">
            <a:solidFill>
              <a:srgbClr val="33415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5998464" y="2400300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5998464" y="2400300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18" name="Connector 217"/>
          <p:cNvCxnSpPr/>
          <p:nvPr/>
        </p:nvCxnSpPr>
        <p:spPr>
          <a:xfrm flipH="1">
            <a:off x="3200400" y="1408176"/>
            <a:ext cx="640080" cy="50292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Oval 218"/>
          <p:cNvSpPr/>
          <p:nvPr/>
        </p:nvSpPr>
        <p:spPr>
          <a:xfrm>
            <a:off x="3433572" y="1291589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433572" y="1291589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5577840" y="1408176"/>
            <a:ext cx="2194560" cy="50292"/>
          </a:xfrm>
          <a:prstGeom prst="line">
            <a:avLst/>
          </a:prstGeom>
          <a:ln w="13970">
            <a:solidFill>
              <a:srgbClr val="33415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Oval 221"/>
          <p:cNvSpPr/>
          <p:nvPr/>
        </p:nvSpPr>
        <p:spPr>
          <a:xfrm>
            <a:off x="6263640" y="1234440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6263640" y="1234440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201168" y="5285232"/>
            <a:ext cx="960120" cy="475488"/>
          </a:xfrm>
          <a:prstGeom prst="rect">
            <a:avLst/>
          </a:prstGeom>
          <a:solidFill>
            <a:srgbClr val="E5E7EB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53212" y="5312664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53212" y="531266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19456" y="5559552"/>
            <a:ext cx="923544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External</a:t>
            </a:r>
          </a:p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APIs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234440" y="5285232"/>
            <a:ext cx="1051560" cy="475488"/>
          </a:xfrm>
          <a:prstGeom prst="rect">
            <a:avLst/>
          </a:prstGeom>
          <a:solidFill>
            <a:srgbClr val="E5E7EB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632204" y="5312664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632204" y="531266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DX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252728" y="5559552"/>
            <a:ext cx="1014983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AWS Data</a:t>
            </a:r>
          </a:p>
          <a:p>
            <a:pPr algn="ctr"/>
            <a:r>
              <a:rPr sz="530" b="1">
                <a:solidFill>
                  <a:srgbClr val="1C1C1C"/>
                </a:solidFill>
                <a:latin typeface="Calibri"/>
              </a:rPr>
              <a:t>Exchange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2359152" y="5285232"/>
            <a:ext cx="1143000" cy="475488"/>
          </a:xfrm>
          <a:prstGeom prst="rect">
            <a:avLst/>
          </a:prstGeom>
          <a:solidFill>
            <a:srgbClr val="D1FAE5"/>
          </a:solidFill>
          <a:ln w="698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802636" y="5312664"/>
            <a:ext cx="256032" cy="256032"/>
          </a:xfrm>
          <a:prstGeom prst="rect">
            <a:avLst/>
          </a:prstGeom>
          <a:solidFill>
            <a:srgbClr val="4F00CA"/>
          </a:solidFill>
          <a:ln w="5080">
            <a:solidFill>
              <a:srgbClr val="4F0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802636" y="531266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377440" y="5559552"/>
            <a:ext cx="1106424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C1C1C"/>
                </a:solidFill>
                <a:latin typeface="Calibri"/>
              </a:rPr>
              <a:t>Data Lake</a:t>
            </a:r>
          </a:p>
        </p:txBody>
      </p:sp>
      <p:cxnSp>
        <p:nvCxnSpPr>
          <p:cNvPr id="236" name="Connector 235"/>
          <p:cNvCxnSpPr/>
          <p:nvPr/>
        </p:nvCxnSpPr>
        <p:spPr>
          <a:xfrm flipH="1" flipV="1">
            <a:off x="2011680" y="5161788"/>
            <a:ext cx="914400" cy="361188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236"/>
          <p:cNvSpPr/>
          <p:nvPr/>
        </p:nvSpPr>
        <p:spPr>
          <a:xfrm>
            <a:off x="2382012" y="5200650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382012" y="5200650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cxnSp>
        <p:nvCxnSpPr>
          <p:cNvPr id="239" name="Connector 238"/>
          <p:cNvCxnSpPr/>
          <p:nvPr/>
        </p:nvCxnSpPr>
        <p:spPr>
          <a:xfrm flipV="1">
            <a:off x="2926080" y="5161788"/>
            <a:ext cx="4389120" cy="214884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5033772" y="5127498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033772" y="5127498"/>
            <a:ext cx="173736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64592" y="5870448"/>
            <a:ext cx="11850624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37744" y="5907024"/>
            <a:ext cx="1170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4657A"/>
                </a:solidFill>
                <a:latin typeface="Calibri"/>
              </a:rPr>
              <a:t>Reference LLD layout — blue numbers = flow sequence · dashed = promote / cross-env · GitHub Actions + SageMaker Registry (MLflow shown per reference)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56032" y="6089904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231E33"/>
                </a:solidFill>
                <a:latin typeface="Calibri"/>
              </a:rPr>
              <a:t>1–4 GitHub → GHA → approvals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142232" y="6089904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231E33"/>
                </a:solidFill>
                <a:latin typeface="Calibri"/>
              </a:rPr>
              <a:t>5–9 DEV build pipeline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028431" y="6089904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231E33"/>
                </a:solidFill>
                <a:latin typeface="Calibri"/>
              </a:rPr>
              <a:t>10–12 DEV deploy → endpoint → CW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56032" y="6345936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231E33"/>
                </a:solidFill>
                <a:latin typeface="Calibri"/>
              </a:rPr>
              <a:t>13–17 PROD build pipeline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142232" y="6345936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231E33"/>
                </a:solidFill>
                <a:latin typeface="Calibri"/>
              </a:rPr>
              <a:t>18–20 PROD deploy → monitor → app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8028431" y="6345936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231E33"/>
                </a:solidFill>
                <a:latin typeface="Calibri"/>
              </a:rPr>
              <a:t>21–22 Data Lake → DEV/PROD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29184" y="6199632"/>
            <a:ext cx="11338560" cy="9144"/>
          </a:xfrm>
          <a:prstGeom prst="rect">
            <a:avLst/>
          </a:prstGeom>
          <a:solidFill>
            <a:srgbClr val="54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1475720" y="643737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20113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